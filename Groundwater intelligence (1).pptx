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Firs Neue Bold" charset="1" panose="02000803030000020004"/>
      <p:regular r:id="rId16"/>
    </p:embeddedFont>
    <p:embeddedFont>
      <p:font typeface="TT Firs Neue" charset="1" panose="02000503030000020004"/>
      <p:regular r:id="rId17"/>
    </p:embeddedFont>
    <p:embeddedFont>
      <p:font typeface="Times New Roman" charset="1" panose="02020603050405020304"/>
      <p:regular r:id="rId18"/>
    </p:embeddedFont>
    <p:embeddedFont>
      <p:font typeface="Times New Roman Bold" charset="1" panose="020208030705050203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VAHTHHFT_Z8.mp4" Type="http://schemas.openxmlformats.org/officeDocument/2006/relationships/video"/><Relationship Id="rId5" Target="../media/VAHTHHFT_Z8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24554" y="1008071"/>
            <a:ext cx="418610" cy="41861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291511" y="1008071"/>
            <a:ext cx="418610" cy="41861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58469" y="1008071"/>
            <a:ext cx="418610" cy="41861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9647" y="3884404"/>
            <a:ext cx="17528353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b="true" sz="8000">
                <a:solidFill>
                  <a:srgbClr val="FFDE59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GROUNDWATER INTELLIGENCE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8214" y="4919752"/>
            <a:ext cx="18868029" cy="48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6"/>
              </a:lnSpc>
              <a:spcBef>
                <a:spcPct val="0"/>
              </a:spcBef>
            </a:pPr>
            <a:r>
              <a:rPr lang="en-US" sz="343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AI-POWERED MONITORING, ANOMALY DETECTION &amp; DEPLETION FORECASTING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4767" y="8789571"/>
            <a:ext cx="10630237" cy="95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Team:ASAP</a:t>
            </a:r>
          </a:p>
          <a:p>
            <a:pPr algn="l" marL="0" indent="0" lvl="0">
              <a:lnSpc>
                <a:spcPts val="3646"/>
              </a:lnSpc>
              <a:spcBef>
                <a:spcPct val="0"/>
              </a:spcBef>
            </a:pPr>
            <a:r>
              <a:rPr lang="en-US" sz="34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GSSS Institute of Engineering and Technology for Women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8214" y="5677975"/>
            <a:ext cx="8775610" cy="120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by:</a:t>
            </a:r>
          </a:p>
          <a:p>
            <a:pPr algn="l">
              <a:lnSpc>
                <a:spcPts val="2968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EXASOL | Python | DBeaver | Excel | PowerShell</a:t>
            </a:r>
          </a:p>
          <a:p>
            <a:pPr algn="l" marL="0" indent="0" lvl="0">
              <a:lnSpc>
                <a:spcPts val="341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49706"/>
            <a:ext cx="16230600" cy="8408594"/>
            <a:chOff x="0" y="0"/>
            <a:chExt cx="4274726" cy="22146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214609"/>
            </a:xfrm>
            <a:custGeom>
              <a:avLst/>
              <a:gdLst/>
              <a:ahLst/>
              <a:cxnLst/>
              <a:rect r="r" b="b" t="t" l="l"/>
              <a:pathLst>
                <a:path h="2214609" w="4274726">
                  <a:moveTo>
                    <a:pt x="9540" y="0"/>
                  </a:moveTo>
                  <a:lnTo>
                    <a:pt x="4265186" y="0"/>
                  </a:lnTo>
                  <a:cubicBezTo>
                    <a:pt x="4270455" y="0"/>
                    <a:pt x="4274726" y="4271"/>
                    <a:pt x="4274726" y="9540"/>
                  </a:cubicBezTo>
                  <a:lnTo>
                    <a:pt x="4274726" y="2205069"/>
                  </a:lnTo>
                  <a:cubicBezTo>
                    <a:pt x="4274726" y="2207599"/>
                    <a:pt x="4273721" y="2210026"/>
                    <a:pt x="4271932" y="2211815"/>
                  </a:cubicBezTo>
                  <a:cubicBezTo>
                    <a:pt x="4270143" y="2213604"/>
                    <a:pt x="4267716" y="2214609"/>
                    <a:pt x="4265186" y="2214609"/>
                  </a:cubicBezTo>
                  <a:lnTo>
                    <a:pt x="9540" y="2214609"/>
                  </a:lnTo>
                  <a:cubicBezTo>
                    <a:pt x="4271" y="2214609"/>
                    <a:pt x="0" y="2210338"/>
                    <a:pt x="0" y="2205069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274726" cy="2186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20061" y="1639287"/>
            <a:ext cx="12795647" cy="568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6"/>
              </a:lnSpc>
              <a:spcBef>
                <a:spcPct val="0"/>
              </a:spcBef>
            </a:pPr>
            <a:r>
              <a:rPr lang="en-US" b="true" sz="41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THE PROBLEM: INDIA’S GROUNDWATER CRISIS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57063" y="3420603"/>
            <a:ext cx="14307425" cy="527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3068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</a:p>
          <a:p>
            <a:pPr algn="l" marL="662496" indent="-331248" lvl="1">
              <a:lnSpc>
                <a:spcPts val="3252"/>
              </a:lnSpc>
              <a:buFont typeface="Arial"/>
              <a:buChar char="•"/>
            </a:pPr>
            <a:r>
              <a:rPr lang="en-US" sz="3068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 depends heavily on groundwater for agriculture, drinking water and livelihoods. Continuous depletion can push regions into Critical or Over-Exploited conditions.</a:t>
            </a:r>
          </a:p>
          <a:p>
            <a:pPr algn="l">
              <a:lnSpc>
                <a:spcPts val="3252"/>
              </a:lnSpc>
            </a:pPr>
          </a:p>
          <a:p>
            <a:pPr algn="l">
              <a:lnSpc>
                <a:spcPts val="3252"/>
              </a:lnSpc>
            </a:pPr>
            <a:r>
              <a:rPr lang="en-US" sz="3068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Already Exists</a:t>
            </a:r>
          </a:p>
          <a:p>
            <a:pPr algn="l" marL="662496" indent="-331248" lvl="1">
              <a:lnSpc>
                <a:spcPts val="3252"/>
              </a:lnSpc>
              <a:buFont typeface="Arial"/>
              <a:buChar char="•"/>
            </a:pPr>
            <a:r>
              <a:rPr lang="en-US" sz="3068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Thousands of Digital Water Level Recorders (DWLRs) monitor groundwater levels.</a:t>
            </a:r>
          </a:p>
          <a:p>
            <a:pPr algn="l" marL="662496" indent="-331248" lvl="1">
              <a:lnSpc>
                <a:spcPts val="3252"/>
              </a:lnSpc>
              <a:buFont typeface="Arial"/>
              <a:buChar char="•"/>
            </a:pPr>
            <a:r>
              <a:rPr lang="en-US" sz="3068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India-WRIS provides water-resource information.</a:t>
            </a:r>
          </a:p>
          <a:p>
            <a:pPr algn="l" marL="662496" indent="-331248" lvl="1">
              <a:lnSpc>
                <a:spcPts val="3252"/>
              </a:lnSpc>
              <a:buFont typeface="Arial"/>
              <a:buChar char="•"/>
            </a:pPr>
            <a:r>
              <a:rPr lang="en-US" sz="3068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CGWB assesses groundwater conditions and classifies assessment units.</a:t>
            </a:r>
          </a:p>
          <a:p>
            <a:pPr algn="l">
              <a:lnSpc>
                <a:spcPts val="3252"/>
              </a:lnSpc>
            </a:pPr>
          </a:p>
          <a:p>
            <a:pPr algn="l">
              <a:lnSpc>
                <a:spcPts val="3252"/>
              </a:lnSpc>
            </a:pPr>
            <a:r>
              <a:rPr lang="en-US" sz="3068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Goal</a:t>
            </a:r>
          </a:p>
          <a:p>
            <a:pPr algn="l" marL="662496" indent="-331248" lvl="1">
              <a:lnSpc>
                <a:spcPts val="3252"/>
              </a:lnSpc>
              <a:buFont typeface="Arial"/>
              <a:buChar char="•"/>
            </a:pPr>
            <a:r>
              <a:rPr lang="en-US" sz="3068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 groundwater data into predictive, actionable intelligence before depletion becomes a crisis.</a:t>
            </a:r>
          </a:p>
          <a:p>
            <a:pPr algn="l">
              <a:lnSpc>
                <a:spcPts val="32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1062" y="6215195"/>
            <a:ext cx="16418238" cy="3789498"/>
            <a:chOff x="0" y="0"/>
            <a:chExt cx="4324145" cy="9980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4145" cy="998057"/>
            </a:xfrm>
            <a:custGeom>
              <a:avLst/>
              <a:gdLst/>
              <a:ahLst/>
              <a:cxnLst/>
              <a:rect r="r" b="b" t="t" l="l"/>
              <a:pathLst>
                <a:path h="998057" w="4324145">
                  <a:moveTo>
                    <a:pt x="9431" y="0"/>
                  </a:moveTo>
                  <a:lnTo>
                    <a:pt x="4314714" y="0"/>
                  </a:lnTo>
                  <a:cubicBezTo>
                    <a:pt x="4317215" y="0"/>
                    <a:pt x="4319614" y="994"/>
                    <a:pt x="4321383" y="2762"/>
                  </a:cubicBezTo>
                  <a:cubicBezTo>
                    <a:pt x="4323151" y="4531"/>
                    <a:pt x="4324145" y="6930"/>
                    <a:pt x="4324145" y="9431"/>
                  </a:cubicBezTo>
                  <a:lnTo>
                    <a:pt x="4324145" y="988626"/>
                  </a:lnTo>
                  <a:cubicBezTo>
                    <a:pt x="4324145" y="991127"/>
                    <a:pt x="4323151" y="993526"/>
                    <a:pt x="4321383" y="995295"/>
                  </a:cubicBezTo>
                  <a:cubicBezTo>
                    <a:pt x="4319614" y="997063"/>
                    <a:pt x="4317215" y="998057"/>
                    <a:pt x="4314714" y="998057"/>
                  </a:cubicBezTo>
                  <a:lnTo>
                    <a:pt x="9431" y="998057"/>
                  </a:lnTo>
                  <a:cubicBezTo>
                    <a:pt x="6930" y="998057"/>
                    <a:pt x="4531" y="997063"/>
                    <a:pt x="2762" y="995295"/>
                  </a:cubicBezTo>
                  <a:cubicBezTo>
                    <a:pt x="994" y="993526"/>
                    <a:pt x="0" y="991127"/>
                    <a:pt x="0" y="988626"/>
                  </a:cubicBezTo>
                  <a:lnTo>
                    <a:pt x="0" y="9431"/>
                  </a:lnTo>
                  <a:cubicBezTo>
                    <a:pt x="0" y="6930"/>
                    <a:pt x="994" y="4531"/>
                    <a:pt x="2762" y="2762"/>
                  </a:cubicBezTo>
                  <a:cubicBezTo>
                    <a:pt x="4531" y="994"/>
                    <a:pt x="6930" y="0"/>
                    <a:pt x="94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324145" cy="969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41062" y="780287"/>
            <a:ext cx="16418238" cy="745238"/>
            <a:chOff x="0" y="0"/>
            <a:chExt cx="4324145" cy="1962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24145" cy="196277"/>
            </a:xfrm>
            <a:custGeom>
              <a:avLst/>
              <a:gdLst/>
              <a:ahLst/>
              <a:cxnLst/>
              <a:rect r="r" b="b" t="t" l="l"/>
              <a:pathLst>
                <a:path h="196277" w="4324145">
                  <a:moveTo>
                    <a:pt x="9431" y="0"/>
                  </a:moveTo>
                  <a:lnTo>
                    <a:pt x="4314714" y="0"/>
                  </a:lnTo>
                  <a:cubicBezTo>
                    <a:pt x="4317215" y="0"/>
                    <a:pt x="4319614" y="994"/>
                    <a:pt x="4321383" y="2762"/>
                  </a:cubicBezTo>
                  <a:cubicBezTo>
                    <a:pt x="4323151" y="4531"/>
                    <a:pt x="4324145" y="6930"/>
                    <a:pt x="4324145" y="9431"/>
                  </a:cubicBezTo>
                  <a:lnTo>
                    <a:pt x="4324145" y="186846"/>
                  </a:lnTo>
                  <a:cubicBezTo>
                    <a:pt x="4324145" y="189347"/>
                    <a:pt x="4323151" y="191746"/>
                    <a:pt x="4321383" y="193514"/>
                  </a:cubicBezTo>
                  <a:cubicBezTo>
                    <a:pt x="4319614" y="195283"/>
                    <a:pt x="4317215" y="196277"/>
                    <a:pt x="4314714" y="196277"/>
                  </a:cubicBezTo>
                  <a:lnTo>
                    <a:pt x="9431" y="196277"/>
                  </a:lnTo>
                  <a:cubicBezTo>
                    <a:pt x="6930" y="196277"/>
                    <a:pt x="4531" y="195283"/>
                    <a:pt x="2762" y="193514"/>
                  </a:cubicBezTo>
                  <a:cubicBezTo>
                    <a:pt x="994" y="191746"/>
                    <a:pt x="0" y="189347"/>
                    <a:pt x="0" y="186846"/>
                  </a:cubicBezTo>
                  <a:lnTo>
                    <a:pt x="0" y="9431"/>
                  </a:lnTo>
                  <a:cubicBezTo>
                    <a:pt x="0" y="6930"/>
                    <a:pt x="994" y="4531"/>
                    <a:pt x="2762" y="2762"/>
                  </a:cubicBezTo>
                  <a:cubicBezTo>
                    <a:pt x="4531" y="994"/>
                    <a:pt x="6930" y="0"/>
                    <a:pt x="94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4324145" cy="167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09111" y="837437"/>
            <a:ext cx="13658612" cy="43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8"/>
              </a:lnSpc>
              <a:spcBef>
                <a:spcPct val="0"/>
              </a:spcBef>
            </a:pPr>
            <a:r>
              <a:rPr lang="en-US" b="true" sz="33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THE DATA EXISTS. THE INTELLIGENCE GAP DOESN’T HAVE TO.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41062" y="1830607"/>
            <a:ext cx="16418238" cy="3931528"/>
            <a:chOff x="0" y="0"/>
            <a:chExt cx="4324145" cy="10354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24145" cy="1035464"/>
            </a:xfrm>
            <a:custGeom>
              <a:avLst/>
              <a:gdLst/>
              <a:ahLst/>
              <a:cxnLst/>
              <a:rect r="r" b="b" t="t" l="l"/>
              <a:pathLst>
                <a:path h="1035464" w="4324145">
                  <a:moveTo>
                    <a:pt x="9431" y="0"/>
                  </a:moveTo>
                  <a:lnTo>
                    <a:pt x="4314714" y="0"/>
                  </a:lnTo>
                  <a:cubicBezTo>
                    <a:pt x="4317215" y="0"/>
                    <a:pt x="4319614" y="994"/>
                    <a:pt x="4321383" y="2762"/>
                  </a:cubicBezTo>
                  <a:cubicBezTo>
                    <a:pt x="4323151" y="4531"/>
                    <a:pt x="4324145" y="6930"/>
                    <a:pt x="4324145" y="9431"/>
                  </a:cubicBezTo>
                  <a:lnTo>
                    <a:pt x="4324145" y="1026033"/>
                  </a:lnTo>
                  <a:cubicBezTo>
                    <a:pt x="4324145" y="1028535"/>
                    <a:pt x="4323151" y="1030933"/>
                    <a:pt x="4321383" y="1032702"/>
                  </a:cubicBezTo>
                  <a:cubicBezTo>
                    <a:pt x="4319614" y="1034471"/>
                    <a:pt x="4317215" y="1035464"/>
                    <a:pt x="4314714" y="1035464"/>
                  </a:cubicBezTo>
                  <a:lnTo>
                    <a:pt x="9431" y="1035464"/>
                  </a:lnTo>
                  <a:cubicBezTo>
                    <a:pt x="6930" y="1035464"/>
                    <a:pt x="4531" y="1034471"/>
                    <a:pt x="2762" y="1032702"/>
                  </a:cubicBezTo>
                  <a:cubicBezTo>
                    <a:pt x="994" y="1030933"/>
                    <a:pt x="0" y="1028535"/>
                    <a:pt x="0" y="1026033"/>
                  </a:cubicBezTo>
                  <a:lnTo>
                    <a:pt x="0" y="9431"/>
                  </a:lnTo>
                  <a:cubicBezTo>
                    <a:pt x="0" y="6930"/>
                    <a:pt x="994" y="4531"/>
                    <a:pt x="2762" y="2762"/>
                  </a:cubicBezTo>
                  <a:cubicBezTo>
                    <a:pt x="4531" y="994"/>
                    <a:pt x="6930" y="0"/>
                    <a:pt x="94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4324145" cy="1006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09111" y="2072638"/>
            <a:ext cx="5089379" cy="391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7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Ecosystem</a:t>
            </a:r>
          </a:p>
          <a:p>
            <a:pPr algn="l">
              <a:lnSpc>
                <a:spcPts val="2904"/>
              </a:lnSpc>
            </a:pPr>
          </a:p>
          <a:p>
            <a:pPr algn="l">
              <a:lnSpc>
                <a:spcPts val="2904"/>
              </a:lnSpc>
            </a:pPr>
            <a:r>
              <a:rPr lang="en-US" sz="27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DWLR Sensors</a:t>
            </a:r>
          </a:p>
          <a:p>
            <a:pPr algn="l">
              <a:lnSpc>
                <a:spcPts val="2904"/>
              </a:lnSpc>
            </a:pPr>
            <a:r>
              <a:rPr lang="en-US" sz="27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↓</a:t>
            </a:r>
          </a:p>
          <a:p>
            <a:pPr algn="l">
              <a:lnSpc>
                <a:spcPts val="2904"/>
              </a:lnSpc>
            </a:pPr>
            <a:r>
              <a:rPr lang="en-US" sz="27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Groundwater observations</a:t>
            </a:r>
          </a:p>
          <a:p>
            <a:pPr algn="l">
              <a:lnSpc>
                <a:spcPts val="2904"/>
              </a:lnSpc>
            </a:pPr>
            <a:r>
              <a:rPr lang="en-US" sz="27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↓</a:t>
            </a:r>
          </a:p>
          <a:p>
            <a:pPr algn="l">
              <a:lnSpc>
                <a:spcPts val="2904"/>
              </a:lnSpc>
            </a:pPr>
            <a:r>
              <a:rPr lang="en-US" sz="27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India-WRIS / Water-Resource Data</a:t>
            </a:r>
          </a:p>
          <a:p>
            <a:pPr algn="l">
              <a:lnSpc>
                <a:spcPts val="2904"/>
              </a:lnSpc>
            </a:pPr>
            <a:r>
              <a:rPr lang="en-US" sz="27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↓</a:t>
            </a:r>
          </a:p>
          <a:p>
            <a:pPr algn="l">
              <a:lnSpc>
                <a:spcPts val="2904"/>
              </a:lnSpc>
            </a:pPr>
            <a:r>
              <a:rPr lang="en-US" sz="27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Monitoring &amp; Reporting</a:t>
            </a:r>
          </a:p>
          <a:p>
            <a:pPr algn="l">
              <a:lnSpc>
                <a:spcPts val="2904"/>
              </a:lnSpc>
            </a:pPr>
          </a:p>
          <a:p>
            <a:pPr algn="l">
              <a:lnSpc>
                <a:spcPts val="2162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771047" y="2159665"/>
            <a:ext cx="5089379" cy="346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839" b="true">
                <a:solidFill>
                  <a:srgbClr val="0E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Current limitation:</a:t>
            </a:r>
          </a:p>
          <a:p>
            <a:pPr algn="l">
              <a:lnSpc>
                <a:spcPts val="3010"/>
              </a:lnSpc>
            </a:pPr>
          </a:p>
          <a:p>
            <a:pPr algn="l">
              <a:lnSpc>
                <a:spcPts val="3010"/>
              </a:lnSpc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approach</a:t>
            </a:r>
          </a:p>
          <a:p>
            <a:pPr algn="l">
              <a:lnSpc>
                <a:spcPts val="3010"/>
              </a:lnSpc>
            </a:pPr>
          </a:p>
          <a:p>
            <a:pPr algn="l" marL="613092" indent="-306546" lvl="1">
              <a:lnSpc>
                <a:spcPts val="3010"/>
              </a:lnSpc>
              <a:buFont typeface="Arial"/>
              <a:buChar char="•"/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 water levels</a:t>
            </a:r>
          </a:p>
          <a:p>
            <a:pPr algn="l" marL="613092" indent="-306546" lvl="1">
              <a:lnSpc>
                <a:spcPts val="3010"/>
              </a:lnSpc>
              <a:buFont typeface="Arial"/>
              <a:buChar char="•"/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Observe anomalies</a:t>
            </a:r>
          </a:p>
          <a:p>
            <a:pPr algn="l" marL="613092" indent="-306546" lvl="1">
              <a:lnSpc>
                <a:spcPts val="3010"/>
              </a:lnSpc>
              <a:buFont typeface="Arial"/>
              <a:buChar char="•"/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current depletion</a:t>
            </a:r>
          </a:p>
          <a:p>
            <a:pPr algn="l" marL="613092" indent="-306546" lvl="1">
              <a:lnSpc>
                <a:spcPts val="3010"/>
              </a:lnSpc>
              <a:buFont typeface="Arial"/>
              <a:buChar char="•"/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after crisis</a:t>
            </a:r>
          </a:p>
          <a:p>
            <a:pPr algn="l">
              <a:lnSpc>
                <a:spcPts val="301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860426" y="2805559"/>
            <a:ext cx="5089379" cy="231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required approach</a:t>
            </a:r>
          </a:p>
          <a:p>
            <a:pPr algn="l">
              <a:lnSpc>
                <a:spcPts val="3010"/>
              </a:lnSpc>
            </a:pPr>
          </a:p>
          <a:p>
            <a:pPr algn="l" marL="613092" indent="-306546" lvl="1">
              <a:lnSpc>
                <a:spcPts val="3010"/>
              </a:lnSpc>
              <a:buFont typeface="Arial"/>
              <a:buChar char="•"/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 trends</a:t>
            </a:r>
          </a:p>
          <a:p>
            <a:pPr algn="l" marL="613092" indent="-306546" lvl="1">
              <a:lnSpc>
                <a:spcPts val="3010"/>
              </a:lnSpc>
              <a:buFont typeface="Arial"/>
              <a:buChar char="•"/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sensor faults</a:t>
            </a:r>
          </a:p>
          <a:p>
            <a:pPr algn="l" marL="613092" indent="-306546" lvl="1">
              <a:lnSpc>
                <a:spcPts val="3010"/>
              </a:lnSpc>
              <a:buFont typeface="Arial"/>
              <a:buChar char="•"/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 future risks</a:t>
            </a:r>
          </a:p>
          <a:p>
            <a:pPr algn="l" marL="613092" indent="-306546" lvl="1">
              <a:lnSpc>
                <a:spcPts val="3010"/>
              </a:lnSpc>
              <a:buFont typeface="Arial"/>
              <a:buChar char="•"/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early action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3152" y="6544252"/>
            <a:ext cx="14930091" cy="346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Core Insight</a:t>
            </a:r>
          </a:p>
          <a:p>
            <a:pPr algn="l">
              <a:lnSpc>
                <a:spcPts val="3010"/>
              </a:lnSpc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challenge is not lack of data.</a:t>
            </a:r>
          </a:p>
          <a:p>
            <a:pPr algn="l">
              <a:lnSpc>
                <a:spcPts val="3010"/>
              </a:lnSpc>
            </a:pPr>
          </a:p>
          <a:p>
            <a:pPr algn="l">
              <a:lnSpc>
                <a:spcPts val="3010"/>
              </a:lnSpc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the lack of an integrated system that converts:</a:t>
            </a:r>
          </a:p>
          <a:p>
            <a:pPr algn="l">
              <a:lnSpc>
                <a:spcPts val="3010"/>
              </a:lnSpc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→ CLEAN DATA → PATTERNS → FORECAST → RISK → EARLY WARNING</a:t>
            </a:r>
          </a:p>
          <a:p>
            <a:pPr algn="l">
              <a:lnSpc>
                <a:spcPts val="3010"/>
              </a:lnSpc>
            </a:pPr>
          </a:p>
          <a:p>
            <a:pPr algn="l">
              <a:lnSpc>
                <a:spcPts val="3010"/>
              </a:lnSpc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Proposition</a:t>
            </a:r>
          </a:p>
          <a:p>
            <a:pPr algn="l">
              <a:lnSpc>
                <a:spcPts val="3010"/>
              </a:lnSpc>
            </a:pPr>
            <a:r>
              <a:rPr lang="en-US" sz="28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an AI-powered intelligence layer on existing groundwater monitoring infrastructure.</a:t>
            </a:r>
          </a:p>
          <a:p>
            <a:pPr algn="l">
              <a:lnSpc>
                <a:spcPts val="301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1737" y="622897"/>
            <a:ext cx="17318873" cy="2203432"/>
            <a:chOff x="0" y="0"/>
            <a:chExt cx="4561349" cy="5803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61349" cy="580328"/>
            </a:xfrm>
            <a:custGeom>
              <a:avLst/>
              <a:gdLst/>
              <a:ahLst/>
              <a:cxnLst/>
              <a:rect r="r" b="b" t="t" l="l"/>
              <a:pathLst>
                <a:path h="580328" w="4561349">
                  <a:moveTo>
                    <a:pt x="8940" y="0"/>
                  </a:moveTo>
                  <a:lnTo>
                    <a:pt x="4552409" y="0"/>
                  </a:lnTo>
                  <a:cubicBezTo>
                    <a:pt x="4554780" y="0"/>
                    <a:pt x="4557054" y="942"/>
                    <a:pt x="4558731" y="2619"/>
                  </a:cubicBezTo>
                  <a:cubicBezTo>
                    <a:pt x="4560407" y="4295"/>
                    <a:pt x="4561349" y="6569"/>
                    <a:pt x="4561349" y="8940"/>
                  </a:cubicBezTo>
                  <a:lnTo>
                    <a:pt x="4561349" y="571387"/>
                  </a:lnTo>
                  <a:cubicBezTo>
                    <a:pt x="4561349" y="576325"/>
                    <a:pt x="4557346" y="580328"/>
                    <a:pt x="4552409" y="580328"/>
                  </a:cubicBezTo>
                  <a:lnTo>
                    <a:pt x="8940" y="580328"/>
                  </a:lnTo>
                  <a:cubicBezTo>
                    <a:pt x="4003" y="580328"/>
                    <a:pt x="0" y="576325"/>
                    <a:pt x="0" y="571387"/>
                  </a:cubicBezTo>
                  <a:lnTo>
                    <a:pt x="0" y="8940"/>
                  </a:lnTo>
                  <a:cubicBezTo>
                    <a:pt x="0" y="4003"/>
                    <a:pt x="4003" y="0"/>
                    <a:pt x="89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561349" cy="551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43766" y="1236093"/>
            <a:ext cx="6742390" cy="51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2"/>
              </a:lnSpc>
              <a:spcBef>
                <a:spcPct val="0"/>
              </a:spcBef>
            </a:pPr>
            <a:r>
              <a:rPr lang="en-US" b="true" sz="37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OUR PROPOSED SOLUTION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1816" y="3169533"/>
            <a:ext cx="17318873" cy="5653080"/>
            <a:chOff x="0" y="0"/>
            <a:chExt cx="4561349" cy="14888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61349" cy="1488877"/>
            </a:xfrm>
            <a:custGeom>
              <a:avLst/>
              <a:gdLst/>
              <a:ahLst/>
              <a:cxnLst/>
              <a:rect r="r" b="b" t="t" l="l"/>
              <a:pathLst>
                <a:path h="1488877" w="4561349">
                  <a:moveTo>
                    <a:pt x="8940" y="0"/>
                  </a:moveTo>
                  <a:lnTo>
                    <a:pt x="4552409" y="0"/>
                  </a:lnTo>
                  <a:cubicBezTo>
                    <a:pt x="4554780" y="0"/>
                    <a:pt x="4557054" y="942"/>
                    <a:pt x="4558731" y="2619"/>
                  </a:cubicBezTo>
                  <a:cubicBezTo>
                    <a:pt x="4560407" y="4295"/>
                    <a:pt x="4561349" y="6569"/>
                    <a:pt x="4561349" y="8940"/>
                  </a:cubicBezTo>
                  <a:lnTo>
                    <a:pt x="4561349" y="1479937"/>
                  </a:lnTo>
                  <a:cubicBezTo>
                    <a:pt x="4561349" y="1484874"/>
                    <a:pt x="4557346" y="1488877"/>
                    <a:pt x="4552409" y="1488877"/>
                  </a:cubicBezTo>
                  <a:lnTo>
                    <a:pt x="8940" y="1488877"/>
                  </a:lnTo>
                  <a:cubicBezTo>
                    <a:pt x="4003" y="1488877"/>
                    <a:pt x="0" y="1484874"/>
                    <a:pt x="0" y="1479937"/>
                  </a:cubicBezTo>
                  <a:lnTo>
                    <a:pt x="0" y="8940"/>
                  </a:lnTo>
                  <a:cubicBezTo>
                    <a:pt x="0" y="4003"/>
                    <a:pt x="4003" y="0"/>
                    <a:pt x="89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4561349" cy="1460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4863" y="2134976"/>
            <a:ext cx="7808256" cy="668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2939" b="true">
                <a:solidFill>
                  <a:srgbClr val="0E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AI-Powered Groundwater Intelligence Platform</a:t>
            </a:r>
          </a:p>
          <a:p>
            <a:pPr algn="l">
              <a:lnSpc>
                <a:spcPts val="3116"/>
              </a:lnSpc>
            </a:pPr>
          </a:p>
          <a:p>
            <a:pPr algn="l">
              <a:lnSpc>
                <a:spcPts val="3116"/>
              </a:lnSpc>
            </a:pPr>
          </a:p>
          <a:p>
            <a:pPr algn="l">
              <a:lnSpc>
                <a:spcPts val="2904"/>
              </a:lnSpc>
            </a:pPr>
            <a:r>
              <a:rPr lang="en-US" sz="27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DATA INGESTION</a:t>
            </a:r>
          </a:p>
          <a:p>
            <a:pPr algn="l">
              <a:lnSpc>
                <a:spcPts val="2904"/>
              </a:lnSpc>
            </a:pP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DWLR observations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groundwater levels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Rainfall data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Seasonal patterns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Station / block / district information</a:t>
            </a:r>
          </a:p>
          <a:p>
            <a:pPr algn="l">
              <a:lnSpc>
                <a:spcPts val="3074"/>
              </a:lnSpc>
            </a:pPr>
          </a:p>
          <a:p>
            <a:pPr algn="l">
              <a:lnSpc>
                <a:spcPts val="2904"/>
              </a:lnSpc>
            </a:pPr>
          </a:p>
          <a:p>
            <a:pPr algn="l">
              <a:lnSpc>
                <a:spcPts val="2904"/>
              </a:lnSpc>
            </a:pPr>
            <a:r>
              <a:rPr lang="en-US" sz="27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DATA PREPARATION</a:t>
            </a:r>
          </a:p>
          <a:p>
            <a:pPr algn="l">
              <a:lnSpc>
                <a:spcPts val="2904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 → Missing-value handling → Standardization → Quality checks</a:t>
            </a:r>
          </a:p>
          <a:p>
            <a:pPr algn="l">
              <a:lnSpc>
                <a:spcPts val="2904"/>
              </a:lnSpc>
            </a:pPr>
          </a:p>
          <a:p>
            <a:pPr algn="l">
              <a:lnSpc>
                <a:spcPts val="269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093069" y="3394701"/>
            <a:ext cx="5779243" cy="571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2"/>
              </a:lnSpc>
            </a:pPr>
            <a:r>
              <a:rPr lang="en-US" sz="25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INTELLIGENCE ENGINE</a:t>
            </a:r>
          </a:p>
          <a:p>
            <a:pPr algn="l">
              <a:lnSpc>
                <a:spcPts val="2692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Anomaly Detection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Identify suspicious sensor readings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Trend Analysis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Identify persistent groundwater decline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Forecasting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 future groundwater conditions</a:t>
            </a:r>
          </a:p>
          <a:p>
            <a:pPr algn="l">
              <a:lnSpc>
                <a:spcPts val="3074"/>
              </a:lnSpc>
            </a:pPr>
          </a:p>
          <a:p>
            <a:pPr algn="l">
              <a:lnSpc>
                <a:spcPts val="2692"/>
              </a:lnSpc>
            </a:pPr>
          </a:p>
          <a:p>
            <a:pPr algn="l">
              <a:lnSpc>
                <a:spcPts val="2692"/>
              </a:lnSpc>
            </a:pPr>
            <a:r>
              <a:rPr lang="en-US" sz="25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RISK CLASSIFICATION</a:t>
            </a:r>
          </a:p>
          <a:p>
            <a:pPr algn="l">
              <a:lnSpc>
                <a:spcPts val="2692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→ Watch → High Risk → Critical</a:t>
            </a:r>
          </a:p>
          <a:p>
            <a:pPr algn="l">
              <a:lnSpc>
                <a:spcPts val="2692"/>
              </a:lnSpc>
            </a:pPr>
          </a:p>
          <a:p>
            <a:pPr algn="l">
              <a:lnSpc>
                <a:spcPts val="2692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075213" y="3394701"/>
            <a:ext cx="6144466" cy="3353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2"/>
              </a:lnSpc>
            </a:pPr>
            <a:r>
              <a:rPr lang="en-US" sz="253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ACTIONABLE DASHBOARD</a:t>
            </a:r>
          </a:p>
          <a:p>
            <a:pPr algn="l">
              <a:lnSpc>
                <a:spcPts val="3074"/>
              </a:lnSpc>
            </a:pP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condition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trend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score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status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Early-warning alerts</a:t>
            </a:r>
          </a:p>
          <a:p>
            <a:pPr algn="l">
              <a:lnSpc>
                <a:spcPts val="30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2607" y="480867"/>
            <a:ext cx="9060790" cy="1108920"/>
            <a:chOff x="0" y="0"/>
            <a:chExt cx="2386381" cy="292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6381" cy="292061"/>
            </a:xfrm>
            <a:custGeom>
              <a:avLst/>
              <a:gdLst/>
              <a:ahLst/>
              <a:cxnLst/>
              <a:rect r="r" b="b" t="t" l="l"/>
              <a:pathLst>
                <a:path h="292061" w="2386381">
                  <a:moveTo>
                    <a:pt x="17089" y="0"/>
                  </a:moveTo>
                  <a:lnTo>
                    <a:pt x="2369292" y="0"/>
                  </a:lnTo>
                  <a:cubicBezTo>
                    <a:pt x="2373824" y="0"/>
                    <a:pt x="2378171" y="1800"/>
                    <a:pt x="2381376" y="5005"/>
                  </a:cubicBezTo>
                  <a:cubicBezTo>
                    <a:pt x="2384581" y="8210"/>
                    <a:pt x="2386381" y="12557"/>
                    <a:pt x="2386381" y="17089"/>
                  </a:cubicBezTo>
                  <a:lnTo>
                    <a:pt x="2386381" y="274972"/>
                  </a:lnTo>
                  <a:cubicBezTo>
                    <a:pt x="2386381" y="279505"/>
                    <a:pt x="2384581" y="283851"/>
                    <a:pt x="2381376" y="287056"/>
                  </a:cubicBezTo>
                  <a:cubicBezTo>
                    <a:pt x="2378171" y="290261"/>
                    <a:pt x="2373824" y="292061"/>
                    <a:pt x="2369292" y="292061"/>
                  </a:cubicBezTo>
                  <a:lnTo>
                    <a:pt x="17089" y="292061"/>
                  </a:lnTo>
                  <a:cubicBezTo>
                    <a:pt x="12557" y="292061"/>
                    <a:pt x="8210" y="290261"/>
                    <a:pt x="5005" y="287056"/>
                  </a:cubicBezTo>
                  <a:cubicBezTo>
                    <a:pt x="1800" y="283851"/>
                    <a:pt x="0" y="279505"/>
                    <a:pt x="0" y="274972"/>
                  </a:cubicBezTo>
                  <a:lnTo>
                    <a:pt x="0" y="17089"/>
                  </a:lnTo>
                  <a:cubicBezTo>
                    <a:pt x="0" y="12557"/>
                    <a:pt x="1800" y="8210"/>
                    <a:pt x="5005" y="5005"/>
                  </a:cubicBezTo>
                  <a:cubicBezTo>
                    <a:pt x="8210" y="1800"/>
                    <a:pt x="12557" y="0"/>
                    <a:pt x="170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386381" cy="263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91727" y="802408"/>
            <a:ext cx="8004018" cy="51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2"/>
              </a:lnSpc>
              <a:spcBef>
                <a:spcPct val="0"/>
              </a:spcBef>
            </a:pPr>
            <a:r>
              <a:rPr lang="en-US" b="true" sz="37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DATA &amp; TECHNOLOGY STACK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02607" y="2113597"/>
            <a:ext cx="7005791" cy="7414108"/>
            <a:chOff x="0" y="0"/>
            <a:chExt cx="1845147" cy="19526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45146" cy="1952687"/>
            </a:xfrm>
            <a:custGeom>
              <a:avLst/>
              <a:gdLst/>
              <a:ahLst/>
              <a:cxnLst/>
              <a:rect r="r" b="b" t="t" l="l"/>
              <a:pathLst>
                <a:path h="1952687" w="1845146">
                  <a:moveTo>
                    <a:pt x="22101" y="0"/>
                  </a:moveTo>
                  <a:lnTo>
                    <a:pt x="1823045" y="0"/>
                  </a:lnTo>
                  <a:cubicBezTo>
                    <a:pt x="1835251" y="0"/>
                    <a:pt x="1845146" y="9895"/>
                    <a:pt x="1845146" y="22101"/>
                  </a:cubicBezTo>
                  <a:lnTo>
                    <a:pt x="1845146" y="1930585"/>
                  </a:lnTo>
                  <a:cubicBezTo>
                    <a:pt x="1845146" y="1936447"/>
                    <a:pt x="1842818" y="1942069"/>
                    <a:pt x="1838673" y="1946214"/>
                  </a:cubicBezTo>
                  <a:cubicBezTo>
                    <a:pt x="1834528" y="1950358"/>
                    <a:pt x="1828907" y="1952687"/>
                    <a:pt x="1823045" y="1952687"/>
                  </a:cubicBezTo>
                  <a:lnTo>
                    <a:pt x="22101" y="1952687"/>
                  </a:lnTo>
                  <a:cubicBezTo>
                    <a:pt x="16240" y="1952687"/>
                    <a:pt x="10618" y="1950358"/>
                    <a:pt x="6473" y="1946214"/>
                  </a:cubicBezTo>
                  <a:cubicBezTo>
                    <a:pt x="2329" y="1942069"/>
                    <a:pt x="0" y="1936447"/>
                    <a:pt x="0" y="1930585"/>
                  </a:cubicBezTo>
                  <a:lnTo>
                    <a:pt x="0" y="22101"/>
                  </a:lnTo>
                  <a:cubicBezTo>
                    <a:pt x="0" y="16240"/>
                    <a:pt x="2329" y="10618"/>
                    <a:pt x="6473" y="6473"/>
                  </a:cubicBezTo>
                  <a:cubicBezTo>
                    <a:pt x="10618" y="2329"/>
                    <a:pt x="16240" y="0"/>
                    <a:pt x="221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845147" cy="1924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792284"/>
            <a:ext cx="6956071" cy="634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We Built the Project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SOURCES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CGWB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Groundwater assessments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Groundwater classification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information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India-WRIS / NWIC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Water-resource and groundwater information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Rainfall &amp; Seasonal Data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Supporting variables for trend and forecasting analysis</a:t>
            </a:r>
          </a:p>
          <a:p>
            <a:pPr algn="l">
              <a:lnSpc>
                <a:spcPts val="2967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8231695" y="2113597"/>
            <a:ext cx="9359269" cy="7414108"/>
            <a:chOff x="0" y="0"/>
            <a:chExt cx="2464993" cy="19526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64993" cy="1952687"/>
            </a:xfrm>
            <a:custGeom>
              <a:avLst/>
              <a:gdLst/>
              <a:ahLst/>
              <a:cxnLst/>
              <a:rect r="r" b="b" t="t" l="l"/>
              <a:pathLst>
                <a:path h="1952687" w="2464993">
                  <a:moveTo>
                    <a:pt x="16544" y="0"/>
                  </a:moveTo>
                  <a:lnTo>
                    <a:pt x="2448449" y="0"/>
                  </a:lnTo>
                  <a:cubicBezTo>
                    <a:pt x="2457586" y="0"/>
                    <a:pt x="2464993" y="7407"/>
                    <a:pt x="2464993" y="16544"/>
                  </a:cubicBezTo>
                  <a:lnTo>
                    <a:pt x="2464993" y="1936143"/>
                  </a:lnTo>
                  <a:cubicBezTo>
                    <a:pt x="2464993" y="1945280"/>
                    <a:pt x="2457586" y="1952687"/>
                    <a:pt x="2448449" y="1952687"/>
                  </a:cubicBezTo>
                  <a:lnTo>
                    <a:pt x="16544" y="1952687"/>
                  </a:lnTo>
                  <a:cubicBezTo>
                    <a:pt x="7407" y="1952687"/>
                    <a:pt x="0" y="1945280"/>
                    <a:pt x="0" y="1936143"/>
                  </a:cubicBezTo>
                  <a:lnTo>
                    <a:pt x="0" y="16544"/>
                  </a:lnTo>
                  <a:cubicBezTo>
                    <a:pt x="0" y="7407"/>
                    <a:pt x="7407" y="0"/>
                    <a:pt x="165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464993" cy="1924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763720" y="2792284"/>
            <a:ext cx="8295219" cy="634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TECHNOLOGY WORKFLOW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inspection &amp; initial preparation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DBEAVER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Database connection, SQL queries &amp; data management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EXASOL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High-performance analytics &amp; large-scale processing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PYCHARM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 development &amp; AI/ML workflow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POWERSHELL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Terminal-based execution &amp; project workflow</a:t>
            </a:r>
          </a:p>
          <a:p>
            <a:pPr algn="l">
              <a:lnSpc>
                <a:spcPts val="296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6089" y="379416"/>
            <a:ext cx="16413211" cy="1168635"/>
            <a:chOff x="0" y="0"/>
            <a:chExt cx="4322821" cy="3077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2821" cy="307789"/>
            </a:xfrm>
            <a:custGeom>
              <a:avLst/>
              <a:gdLst/>
              <a:ahLst/>
              <a:cxnLst/>
              <a:rect r="r" b="b" t="t" l="l"/>
              <a:pathLst>
                <a:path h="307789" w="4322821">
                  <a:moveTo>
                    <a:pt x="9434" y="0"/>
                  </a:moveTo>
                  <a:lnTo>
                    <a:pt x="4313387" y="0"/>
                  </a:lnTo>
                  <a:cubicBezTo>
                    <a:pt x="4318597" y="0"/>
                    <a:pt x="4322821" y="4224"/>
                    <a:pt x="4322821" y="9434"/>
                  </a:cubicBezTo>
                  <a:lnTo>
                    <a:pt x="4322821" y="298355"/>
                  </a:lnTo>
                  <a:cubicBezTo>
                    <a:pt x="4322821" y="300857"/>
                    <a:pt x="4321827" y="303256"/>
                    <a:pt x="4320058" y="305026"/>
                  </a:cubicBezTo>
                  <a:cubicBezTo>
                    <a:pt x="4318289" y="306795"/>
                    <a:pt x="4315889" y="307789"/>
                    <a:pt x="4313387" y="307789"/>
                  </a:cubicBezTo>
                  <a:lnTo>
                    <a:pt x="9434" y="307789"/>
                  </a:lnTo>
                  <a:cubicBezTo>
                    <a:pt x="6932" y="307789"/>
                    <a:pt x="4532" y="306795"/>
                    <a:pt x="2763" y="305026"/>
                  </a:cubicBezTo>
                  <a:cubicBezTo>
                    <a:pt x="994" y="303256"/>
                    <a:pt x="0" y="300857"/>
                    <a:pt x="0" y="298355"/>
                  </a:cubicBezTo>
                  <a:lnTo>
                    <a:pt x="0" y="9434"/>
                  </a:lnTo>
                  <a:cubicBezTo>
                    <a:pt x="0" y="6932"/>
                    <a:pt x="994" y="4532"/>
                    <a:pt x="2763" y="2763"/>
                  </a:cubicBezTo>
                  <a:cubicBezTo>
                    <a:pt x="4532" y="994"/>
                    <a:pt x="6932" y="0"/>
                    <a:pt x="94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322821" cy="279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51147" y="795782"/>
            <a:ext cx="15508099" cy="49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6"/>
              </a:lnSpc>
              <a:spcBef>
                <a:spcPct val="0"/>
              </a:spcBef>
            </a:pPr>
            <a:r>
              <a:rPr lang="en-US" b="true" sz="3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THE INTELLIGENCE ENGINE -  </a:t>
            </a:r>
            <a:r>
              <a:rPr lang="en-US" sz="360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DETECT → UNDERSTAND → PREDICT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49205" y="2236187"/>
            <a:ext cx="5700023" cy="6048187"/>
            <a:chOff x="0" y="0"/>
            <a:chExt cx="1501241" cy="15929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1241" cy="1592938"/>
            </a:xfrm>
            <a:custGeom>
              <a:avLst/>
              <a:gdLst/>
              <a:ahLst/>
              <a:cxnLst/>
              <a:rect r="r" b="b" t="t" l="l"/>
              <a:pathLst>
                <a:path h="1592938" w="1501241">
                  <a:moveTo>
                    <a:pt x="27165" y="0"/>
                  </a:moveTo>
                  <a:lnTo>
                    <a:pt x="1474076" y="0"/>
                  </a:lnTo>
                  <a:cubicBezTo>
                    <a:pt x="1481281" y="0"/>
                    <a:pt x="1488190" y="2862"/>
                    <a:pt x="1493284" y="7956"/>
                  </a:cubicBezTo>
                  <a:cubicBezTo>
                    <a:pt x="1498379" y="13051"/>
                    <a:pt x="1501241" y="19960"/>
                    <a:pt x="1501241" y="27165"/>
                  </a:cubicBezTo>
                  <a:lnTo>
                    <a:pt x="1501241" y="1565774"/>
                  </a:lnTo>
                  <a:cubicBezTo>
                    <a:pt x="1501241" y="1572978"/>
                    <a:pt x="1498379" y="1579888"/>
                    <a:pt x="1493284" y="1584982"/>
                  </a:cubicBezTo>
                  <a:cubicBezTo>
                    <a:pt x="1488190" y="1590076"/>
                    <a:pt x="1481281" y="1592938"/>
                    <a:pt x="1474076" y="1592938"/>
                  </a:cubicBezTo>
                  <a:lnTo>
                    <a:pt x="27165" y="1592938"/>
                  </a:lnTo>
                  <a:cubicBezTo>
                    <a:pt x="19960" y="1592938"/>
                    <a:pt x="13051" y="1590076"/>
                    <a:pt x="7956" y="1584982"/>
                  </a:cubicBezTo>
                  <a:cubicBezTo>
                    <a:pt x="2862" y="1579888"/>
                    <a:pt x="0" y="1572978"/>
                    <a:pt x="0" y="1565774"/>
                  </a:cubicBezTo>
                  <a:lnTo>
                    <a:pt x="0" y="27165"/>
                  </a:lnTo>
                  <a:cubicBezTo>
                    <a:pt x="0" y="19960"/>
                    <a:pt x="2862" y="13051"/>
                    <a:pt x="7956" y="7956"/>
                  </a:cubicBezTo>
                  <a:cubicBezTo>
                    <a:pt x="13051" y="2862"/>
                    <a:pt x="19960" y="0"/>
                    <a:pt x="271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501241" cy="1564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46089" y="2732466"/>
            <a:ext cx="5332861" cy="523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SENSOR ANOMALY DETECTION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analyses: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station behaviour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Sudden level changes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Missing/inconsistent observations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patterns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Reading / Potential Sensor Anomaly</a:t>
            </a:r>
          </a:p>
          <a:p>
            <a:pPr algn="l">
              <a:lnSpc>
                <a:spcPts val="2967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6382117" y="2236187"/>
            <a:ext cx="5700023" cy="6048187"/>
            <a:chOff x="0" y="0"/>
            <a:chExt cx="1501241" cy="15929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01241" cy="1592938"/>
            </a:xfrm>
            <a:custGeom>
              <a:avLst/>
              <a:gdLst/>
              <a:ahLst/>
              <a:cxnLst/>
              <a:rect r="r" b="b" t="t" l="l"/>
              <a:pathLst>
                <a:path h="1592938" w="1501241">
                  <a:moveTo>
                    <a:pt x="27165" y="0"/>
                  </a:moveTo>
                  <a:lnTo>
                    <a:pt x="1474076" y="0"/>
                  </a:lnTo>
                  <a:cubicBezTo>
                    <a:pt x="1481281" y="0"/>
                    <a:pt x="1488190" y="2862"/>
                    <a:pt x="1493284" y="7956"/>
                  </a:cubicBezTo>
                  <a:cubicBezTo>
                    <a:pt x="1498379" y="13051"/>
                    <a:pt x="1501241" y="19960"/>
                    <a:pt x="1501241" y="27165"/>
                  </a:cubicBezTo>
                  <a:lnTo>
                    <a:pt x="1501241" y="1565774"/>
                  </a:lnTo>
                  <a:cubicBezTo>
                    <a:pt x="1501241" y="1572978"/>
                    <a:pt x="1498379" y="1579888"/>
                    <a:pt x="1493284" y="1584982"/>
                  </a:cubicBezTo>
                  <a:cubicBezTo>
                    <a:pt x="1488190" y="1590076"/>
                    <a:pt x="1481281" y="1592938"/>
                    <a:pt x="1474076" y="1592938"/>
                  </a:cubicBezTo>
                  <a:lnTo>
                    <a:pt x="27165" y="1592938"/>
                  </a:lnTo>
                  <a:cubicBezTo>
                    <a:pt x="19960" y="1592938"/>
                    <a:pt x="13051" y="1590076"/>
                    <a:pt x="7956" y="1584982"/>
                  </a:cubicBezTo>
                  <a:cubicBezTo>
                    <a:pt x="2862" y="1579888"/>
                    <a:pt x="0" y="1572978"/>
                    <a:pt x="0" y="1565774"/>
                  </a:cubicBezTo>
                  <a:lnTo>
                    <a:pt x="0" y="27165"/>
                  </a:lnTo>
                  <a:cubicBezTo>
                    <a:pt x="0" y="19960"/>
                    <a:pt x="2862" y="13051"/>
                    <a:pt x="7956" y="7956"/>
                  </a:cubicBezTo>
                  <a:cubicBezTo>
                    <a:pt x="13051" y="2862"/>
                    <a:pt x="19960" y="0"/>
                    <a:pt x="271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501241" cy="1564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47829" y="2723071"/>
            <a:ext cx="5434311" cy="485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GROUNDWATER TREND ANALYSIS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Identifies: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Persistent water-level decline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 of decline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Seasonal variations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from historical behaviour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Temporary fluctuation ≠ Long-term depletion</a:t>
            </a:r>
          </a:p>
          <a:p>
            <a:pPr algn="l">
              <a:lnSpc>
                <a:spcPts val="2967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2415029" y="2236187"/>
            <a:ext cx="5537702" cy="6048187"/>
            <a:chOff x="0" y="0"/>
            <a:chExt cx="1458490" cy="15929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58490" cy="1592938"/>
            </a:xfrm>
            <a:custGeom>
              <a:avLst/>
              <a:gdLst/>
              <a:ahLst/>
              <a:cxnLst/>
              <a:rect r="r" b="b" t="t" l="l"/>
              <a:pathLst>
                <a:path h="1592938" w="1458490">
                  <a:moveTo>
                    <a:pt x="27961" y="0"/>
                  </a:moveTo>
                  <a:lnTo>
                    <a:pt x="1430529" y="0"/>
                  </a:lnTo>
                  <a:cubicBezTo>
                    <a:pt x="1445971" y="0"/>
                    <a:pt x="1458490" y="12518"/>
                    <a:pt x="1458490" y="27961"/>
                  </a:cubicBezTo>
                  <a:lnTo>
                    <a:pt x="1458490" y="1564977"/>
                  </a:lnTo>
                  <a:cubicBezTo>
                    <a:pt x="1458490" y="1580420"/>
                    <a:pt x="1445971" y="1592938"/>
                    <a:pt x="1430529" y="1592938"/>
                  </a:cubicBezTo>
                  <a:lnTo>
                    <a:pt x="27961" y="1592938"/>
                  </a:lnTo>
                  <a:cubicBezTo>
                    <a:pt x="12518" y="1592938"/>
                    <a:pt x="0" y="1580420"/>
                    <a:pt x="0" y="1564977"/>
                  </a:cubicBezTo>
                  <a:lnTo>
                    <a:pt x="0" y="27961"/>
                  </a:lnTo>
                  <a:cubicBezTo>
                    <a:pt x="0" y="12518"/>
                    <a:pt x="12518" y="0"/>
                    <a:pt x="279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458490" cy="1564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551020" y="2732466"/>
            <a:ext cx="5596632" cy="4488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DEPLETION FORECASTING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Levels + Seasonality + Rainfall + Trends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 Model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Groundwater Condition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Level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| Watch | High | Critical</a:t>
            </a:r>
          </a:p>
          <a:p>
            <a:pPr algn="l">
              <a:lnSpc>
                <a:spcPts val="296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8836" y="318546"/>
            <a:ext cx="17602934" cy="1000218"/>
            <a:chOff x="0" y="0"/>
            <a:chExt cx="4636164" cy="2634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36164" cy="263432"/>
            </a:xfrm>
            <a:custGeom>
              <a:avLst/>
              <a:gdLst/>
              <a:ahLst/>
              <a:cxnLst/>
              <a:rect r="r" b="b" t="t" l="l"/>
              <a:pathLst>
                <a:path h="263432" w="4636164">
                  <a:moveTo>
                    <a:pt x="8796" y="0"/>
                  </a:moveTo>
                  <a:lnTo>
                    <a:pt x="4627368" y="0"/>
                  </a:lnTo>
                  <a:cubicBezTo>
                    <a:pt x="4629701" y="0"/>
                    <a:pt x="4631938" y="927"/>
                    <a:pt x="4633588" y="2576"/>
                  </a:cubicBezTo>
                  <a:cubicBezTo>
                    <a:pt x="4635237" y="4226"/>
                    <a:pt x="4636164" y="6463"/>
                    <a:pt x="4636164" y="8796"/>
                  </a:cubicBezTo>
                  <a:lnTo>
                    <a:pt x="4636164" y="254636"/>
                  </a:lnTo>
                  <a:cubicBezTo>
                    <a:pt x="4636164" y="256969"/>
                    <a:pt x="4635237" y="259206"/>
                    <a:pt x="4633588" y="260856"/>
                  </a:cubicBezTo>
                  <a:cubicBezTo>
                    <a:pt x="4631938" y="262505"/>
                    <a:pt x="4629701" y="263432"/>
                    <a:pt x="4627368" y="263432"/>
                  </a:cubicBezTo>
                  <a:lnTo>
                    <a:pt x="8796" y="263432"/>
                  </a:lnTo>
                  <a:cubicBezTo>
                    <a:pt x="6463" y="263432"/>
                    <a:pt x="4226" y="262505"/>
                    <a:pt x="2576" y="260856"/>
                  </a:cubicBezTo>
                  <a:cubicBezTo>
                    <a:pt x="927" y="259206"/>
                    <a:pt x="0" y="256969"/>
                    <a:pt x="0" y="254636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636164" cy="234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177" y="655955"/>
            <a:ext cx="10082476" cy="51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1"/>
              </a:lnSpc>
              <a:spcBef>
                <a:spcPct val="0"/>
              </a:spcBef>
            </a:pPr>
            <a:r>
              <a:rPr lang="en-US" b="true" sz="3699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FROM AI OUTPUT TO EARLY 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54162" y="698090"/>
            <a:ext cx="9187985" cy="402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  <a:spcBef>
                <a:spcPct val="0"/>
              </a:spcBef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GROUNDWATER INTELLIGENCE DASHBOARD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38836" y="1510680"/>
            <a:ext cx="6605685" cy="8548146"/>
            <a:chOff x="0" y="0"/>
            <a:chExt cx="1739769" cy="22513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9769" cy="2251363"/>
            </a:xfrm>
            <a:custGeom>
              <a:avLst/>
              <a:gdLst/>
              <a:ahLst/>
              <a:cxnLst/>
              <a:rect r="r" b="b" t="t" l="l"/>
              <a:pathLst>
                <a:path h="2251363" w="1739769">
                  <a:moveTo>
                    <a:pt x="23440" y="0"/>
                  </a:moveTo>
                  <a:lnTo>
                    <a:pt x="1716329" y="0"/>
                  </a:lnTo>
                  <a:cubicBezTo>
                    <a:pt x="1729274" y="0"/>
                    <a:pt x="1739769" y="10495"/>
                    <a:pt x="1739769" y="23440"/>
                  </a:cubicBezTo>
                  <a:lnTo>
                    <a:pt x="1739769" y="2227923"/>
                  </a:lnTo>
                  <a:cubicBezTo>
                    <a:pt x="1739769" y="2240869"/>
                    <a:pt x="1729274" y="2251363"/>
                    <a:pt x="1716329" y="2251363"/>
                  </a:cubicBezTo>
                  <a:lnTo>
                    <a:pt x="23440" y="2251363"/>
                  </a:lnTo>
                  <a:cubicBezTo>
                    <a:pt x="10495" y="2251363"/>
                    <a:pt x="0" y="2240869"/>
                    <a:pt x="0" y="2227923"/>
                  </a:cubicBezTo>
                  <a:lnTo>
                    <a:pt x="0" y="23440"/>
                  </a:lnTo>
                  <a:cubicBezTo>
                    <a:pt x="0" y="10495"/>
                    <a:pt x="10495" y="0"/>
                    <a:pt x="234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739769" cy="2222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38930" y="1693291"/>
            <a:ext cx="7437580" cy="5473625"/>
            <a:chOff x="0" y="0"/>
            <a:chExt cx="1958869" cy="14416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8869" cy="1441613"/>
            </a:xfrm>
            <a:custGeom>
              <a:avLst/>
              <a:gdLst/>
              <a:ahLst/>
              <a:cxnLst/>
              <a:rect r="r" b="b" t="t" l="l"/>
              <a:pathLst>
                <a:path h="1441613" w="1958869">
                  <a:moveTo>
                    <a:pt x="20818" y="0"/>
                  </a:moveTo>
                  <a:lnTo>
                    <a:pt x="1938051" y="0"/>
                  </a:lnTo>
                  <a:cubicBezTo>
                    <a:pt x="1949548" y="0"/>
                    <a:pt x="1958869" y="9321"/>
                    <a:pt x="1958869" y="20818"/>
                  </a:cubicBezTo>
                  <a:lnTo>
                    <a:pt x="1958869" y="1420795"/>
                  </a:lnTo>
                  <a:cubicBezTo>
                    <a:pt x="1958869" y="1426316"/>
                    <a:pt x="1956676" y="1431611"/>
                    <a:pt x="1952771" y="1435516"/>
                  </a:cubicBezTo>
                  <a:cubicBezTo>
                    <a:pt x="1948867" y="1439420"/>
                    <a:pt x="1943572" y="1441613"/>
                    <a:pt x="1938051" y="1441613"/>
                  </a:cubicBezTo>
                  <a:lnTo>
                    <a:pt x="20818" y="1441613"/>
                  </a:lnTo>
                  <a:cubicBezTo>
                    <a:pt x="9321" y="1441613"/>
                    <a:pt x="0" y="1432293"/>
                    <a:pt x="0" y="1420795"/>
                  </a:cubicBezTo>
                  <a:lnTo>
                    <a:pt x="0" y="20818"/>
                  </a:lnTo>
                  <a:cubicBezTo>
                    <a:pt x="0" y="9321"/>
                    <a:pt x="9321" y="0"/>
                    <a:pt x="208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958869" cy="1413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38930" y="7467600"/>
            <a:ext cx="10055007" cy="2240534"/>
            <a:chOff x="0" y="0"/>
            <a:chExt cx="2648232" cy="5900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48232" cy="590099"/>
            </a:xfrm>
            <a:custGeom>
              <a:avLst/>
              <a:gdLst/>
              <a:ahLst/>
              <a:cxnLst/>
              <a:rect r="r" b="b" t="t" l="l"/>
              <a:pathLst>
                <a:path h="590099" w="2648232">
                  <a:moveTo>
                    <a:pt x="15399" y="0"/>
                  </a:moveTo>
                  <a:lnTo>
                    <a:pt x="2632833" y="0"/>
                  </a:lnTo>
                  <a:cubicBezTo>
                    <a:pt x="2636917" y="0"/>
                    <a:pt x="2640834" y="1622"/>
                    <a:pt x="2643722" y="4510"/>
                  </a:cubicBezTo>
                  <a:cubicBezTo>
                    <a:pt x="2646610" y="7398"/>
                    <a:pt x="2648232" y="11315"/>
                    <a:pt x="2648232" y="15399"/>
                  </a:cubicBezTo>
                  <a:lnTo>
                    <a:pt x="2648232" y="574700"/>
                  </a:lnTo>
                  <a:cubicBezTo>
                    <a:pt x="2648232" y="578784"/>
                    <a:pt x="2646610" y="582701"/>
                    <a:pt x="2643722" y="585589"/>
                  </a:cubicBezTo>
                  <a:cubicBezTo>
                    <a:pt x="2640834" y="588477"/>
                    <a:pt x="2636917" y="590099"/>
                    <a:pt x="2632833" y="590099"/>
                  </a:cubicBezTo>
                  <a:lnTo>
                    <a:pt x="15399" y="590099"/>
                  </a:lnTo>
                  <a:cubicBezTo>
                    <a:pt x="11315" y="590099"/>
                    <a:pt x="7398" y="588477"/>
                    <a:pt x="4510" y="585589"/>
                  </a:cubicBezTo>
                  <a:cubicBezTo>
                    <a:pt x="1622" y="582701"/>
                    <a:pt x="0" y="578784"/>
                    <a:pt x="0" y="574700"/>
                  </a:cubicBezTo>
                  <a:lnTo>
                    <a:pt x="0" y="15399"/>
                  </a:lnTo>
                  <a:cubicBezTo>
                    <a:pt x="0" y="11315"/>
                    <a:pt x="1622" y="7398"/>
                    <a:pt x="4510" y="4510"/>
                  </a:cubicBezTo>
                  <a:cubicBezTo>
                    <a:pt x="7398" y="1622"/>
                    <a:pt x="11315" y="0"/>
                    <a:pt x="15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2648232" cy="561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177" y="1759966"/>
            <a:ext cx="6136313" cy="852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Indicators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862"/>
              </a:lnSpc>
            </a:pPr>
            <a:r>
              <a:rPr lang="en-US" sz="2700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STATUS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groundwater level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Latest reliable observation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Station status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862"/>
              </a:lnSpc>
            </a:pPr>
            <a:r>
              <a:rPr lang="en-US" sz="2700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TREND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Rising / Stable / Declining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 of change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862"/>
              </a:lnSpc>
            </a:pPr>
            <a:r>
              <a:rPr lang="en-US" sz="2700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QUALITY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Suspicious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anomaly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862"/>
              </a:lnSpc>
            </a:pPr>
            <a:r>
              <a:rPr lang="en-US" sz="2700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groundwater trend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risk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862"/>
              </a:lnSpc>
            </a:pPr>
            <a:r>
              <a:rPr lang="en-US" sz="2700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Areas approaching critical thresholds</a:t>
            </a:r>
          </a:p>
          <a:p>
            <a:pPr algn="l">
              <a:lnSpc>
                <a:spcPts val="2967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869301" y="1935532"/>
            <a:ext cx="6376839" cy="523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BENEFITS?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District Authorities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Identify high-risk blocks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Prioritize interventions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Water-Resource Departments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Regional planning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Resource management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Understand local groundwater stress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Receive simplified risk information</a:t>
            </a:r>
          </a:p>
          <a:p>
            <a:pPr algn="l">
              <a:lnSpc>
                <a:spcPts val="2967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772441" y="7709841"/>
            <a:ext cx="9187985" cy="188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LOOP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 → DATA → EXASOL → AI → RISK SCORE → DASHBOARD → EARLY ACTION</a:t>
            </a:r>
          </a:p>
          <a:p>
            <a:pPr algn="l">
              <a:lnSpc>
                <a:spcPts val="296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60576"/>
            <a:ext cx="9344852" cy="1107765"/>
            <a:chOff x="0" y="0"/>
            <a:chExt cx="2461196" cy="2917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61196" cy="291757"/>
            </a:xfrm>
            <a:custGeom>
              <a:avLst/>
              <a:gdLst/>
              <a:ahLst/>
              <a:cxnLst/>
              <a:rect r="r" b="b" t="t" l="l"/>
              <a:pathLst>
                <a:path h="291757" w="2461196">
                  <a:moveTo>
                    <a:pt x="16569" y="0"/>
                  </a:moveTo>
                  <a:lnTo>
                    <a:pt x="2444626" y="0"/>
                  </a:lnTo>
                  <a:cubicBezTo>
                    <a:pt x="2453777" y="0"/>
                    <a:pt x="2461196" y="7418"/>
                    <a:pt x="2461196" y="16569"/>
                  </a:cubicBezTo>
                  <a:lnTo>
                    <a:pt x="2461196" y="275188"/>
                  </a:lnTo>
                  <a:cubicBezTo>
                    <a:pt x="2461196" y="279582"/>
                    <a:pt x="2459450" y="283797"/>
                    <a:pt x="2456343" y="286904"/>
                  </a:cubicBezTo>
                  <a:cubicBezTo>
                    <a:pt x="2453235" y="290011"/>
                    <a:pt x="2449021" y="291757"/>
                    <a:pt x="2444626" y="291757"/>
                  </a:cubicBezTo>
                  <a:lnTo>
                    <a:pt x="16569" y="291757"/>
                  </a:lnTo>
                  <a:cubicBezTo>
                    <a:pt x="7418" y="291757"/>
                    <a:pt x="0" y="284339"/>
                    <a:pt x="0" y="275188"/>
                  </a:cubicBezTo>
                  <a:lnTo>
                    <a:pt x="0" y="16569"/>
                  </a:lnTo>
                  <a:cubicBezTo>
                    <a:pt x="0" y="7418"/>
                    <a:pt x="7418" y="0"/>
                    <a:pt x="165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461196" cy="263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09966" y="795782"/>
            <a:ext cx="8222732" cy="51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1"/>
              </a:lnSpc>
              <a:spcBef>
                <a:spcPct val="0"/>
              </a:spcBef>
            </a:pPr>
            <a:r>
              <a:rPr lang="en-US" b="true" sz="3699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IMPACT, SCALABILITY &amp; FUTURE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6959" y="1830384"/>
            <a:ext cx="7997761" cy="7742637"/>
            <a:chOff x="0" y="0"/>
            <a:chExt cx="2106406" cy="20392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6406" cy="2039213"/>
            </a:xfrm>
            <a:custGeom>
              <a:avLst/>
              <a:gdLst/>
              <a:ahLst/>
              <a:cxnLst/>
              <a:rect r="r" b="b" t="t" l="l"/>
              <a:pathLst>
                <a:path h="2039213" w="2106406">
                  <a:moveTo>
                    <a:pt x="19360" y="0"/>
                  </a:moveTo>
                  <a:lnTo>
                    <a:pt x="2087046" y="0"/>
                  </a:lnTo>
                  <a:cubicBezTo>
                    <a:pt x="2097738" y="0"/>
                    <a:pt x="2106406" y="8668"/>
                    <a:pt x="2106406" y="19360"/>
                  </a:cubicBezTo>
                  <a:lnTo>
                    <a:pt x="2106406" y="2019853"/>
                  </a:lnTo>
                  <a:cubicBezTo>
                    <a:pt x="2106406" y="2030545"/>
                    <a:pt x="2097738" y="2039213"/>
                    <a:pt x="2087046" y="2039213"/>
                  </a:cubicBezTo>
                  <a:lnTo>
                    <a:pt x="19360" y="2039213"/>
                  </a:lnTo>
                  <a:cubicBezTo>
                    <a:pt x="8668" y="2039213"/>
                    <a:pt x="0" y="2030545"/>
                    <a:pt x="0" y="2019853"/>
                  </a:cubicBezTo>
                  <a:lnTo>
                    <a:pt x="0" y="19360"/>
                  </a:lnTo>
                  <a:cubicBezTo>
                    <a:pt x="0" y="8668"/>
                    <a:pt x="8668" y="0"/>
                    <a:pt x="193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106406" cy="2010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88530" y="2166848"/>
            <a:ext cx="7234620" cy="634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a Predictive Groundwater Ecosystem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IMPACT</a:t>
            </a:r>
          </a:p>
          <a:p>
            <a:pPr algn="l">
              <a:lnSpc>
                <a:spcPts val="2967"/>
              </a:lnSpc>
            </a:pP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Earlier Detection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Identify emerging depletion sooner.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Data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Flag faulty or suspicious sensor readings.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Risk-Based Planning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Focus resources on high-risk regions.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Analytics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Analyse large monitoring networks using Exasol.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Decisions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Convert raw data into forecasts, risk scores and alerts.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9346901" y="1833077"/>
            <a:ext cx="8275620" cy="7742637"/>
            <a:chOff x="0" y="0"/>
            <a:chExt cx="2179587" cy="20392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9587" cy="2039213"/>
            </a:xfrm>
            <a:custGeom>
              <a:avLst/>
              <a:gdLst/>
              <a:ahLst/>
              <a:cxnLst/>
              <a:rect r="r" b="b" t="t" l="l"/>
              <a:pathLst>
                <a:path h="2039213" w="2179587">
                  <a:moveTo>
                    <a:pt x="18710" y="0"/>
                  </a:moveTo>
                  <a:lnTo>
                    <a:pt x="2160877" y="0"/>
                  </a:lnTo>
                  <a:cubicBezTo>
                    <a:pt x="2171210" y="0"/>
                    <a:pt x="2179587" y="8377"/>
                    <a:pt x="2179587" y="18710"/>
                  </a:cubicBezTo>
                  <a:lnTo>
                    <a:pt x="2179587" y="2020503"/>
                  </a:lnTo>
                  <a:cubicBezTo>
                    <a:pt x="2179587" y="2030836"/>
                    <a:pt x="2171210" y="2039213"/>
                    <a:pt x="2160877" y="2039213"/>
                  </a:cubicBezTo>
                  <a:lnTo>
                    <a:pt x="18710" y="2039213"/>
                  </a:lnTo>
                  <a:cubicBezTo>
                    <a:pt x="8377" y="2039213"/>
                    <a:pt x="0" y="2030836"/>
                    <a:pt x="0" y="2020503"/>
                  </a:cubicBezTo>
                  <a:lnTo>
                    <a:pt x="0" y="18710"/>
                  </a:lnTo>
                  <a:cubicBezTo>
                    <a:pt x="0" y="8377"/>
                    <a:pt x="8377" y="0"/>
                    <a:pt x="187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179587" cy="2010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832698" y="2166848"/>
            <a:ext cx="8046225" cy="7088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 Districts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Regional Deployment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Groundwater Intelligence Network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DATA INTEGRATION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DWLR stations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Rainfall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Soil &amp; land-use information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Agricultural water demand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Recharge &amp; extraction data</a:t>
            </a:r>
          </a:p>
          <a:p>
            <a:pPr algn="l" marL="604519" indent="-302260" lvl="1">
              <a:lnSpc>
                <a:spcPts val="2967"/>
              </a:lnSpc>
              <a:buFont typeface="Arial"/>
              <a:buChar char="•"/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environmental variables</a:t>
            </a:r>
          </a:p>
          <a:p>
            <a:pPr algn="l">
              <a:lnSpc>
                <a:spcPts val="2967"/>
              </a:lnSpc>
            </a:pP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POTENTIAL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→ Decision-support platform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Organizations → Risk analytics &amp; planning</a:t>
            </a:r>
          </a:p>
          <a:p>
            <a:pPr algn="l">
              <a:lnSpc>
                <a:spcPts val="2967"/>
              </a:lnSpc>
            </a:pPr>
            <a:r>
              <a:rPr lang="en-US" sz="2799">
                <a:solidFill>
                  <a:srgbClr val="0E19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→ Localized groundwater alerts</a:t>
            </a:r>
          </a:p>
          <a:p>
            <a:pPr algn="l">
              <a:lnSpc>
                <a:spcPts val="296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57417" y="3603534"/>
            <a:ext cx="8448600" cy="1846182"/>
            <a:chOff x="0" y="0"/>
            <a:chExt cx="2225146" cy="4862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5146" cy="486237"/>
            </a:xfrm>
            <a:custGeom>
              <a:avLst/>
              <a:gdLst/>
              <a:ahLst/>
              <a:cxnLst/>
              <a:rect r="r" b="b" t="t" l="l"/>
              <a:pathLst>
                <a:path h="486237" w="2225146">
                  <a:moveTo>
                    <a:pt x="18327" y="0"/>
                  </a:moveTo>
                  <a:lnTo>
                    <a:pt x="2206819" y="0"/>
                  </a:lnTo>
                  <a:cubicBezTo>
                    <a:pt x="2211679" y="0"/>
                    <a:pt x="2216341" y="1931"/>
                    <a:pt x="2219778" y="5368"/>
                  </a:cubicBezTo>
                  <a:cubicBezTo>
                    <a:pt x="2223215" y="8805"/>
                    <a:pt x="2225146" y="13466"/>
                    <a:pt x="2225146" y="18327"/>
                  </a:cubicBezTo>
                  <a:lnTo>
                    <a:pt x="2225146" y="467910"/>
                  </a:lnTo>
                  <a:cubicBezTo>
                    <a:pt x="2225146" y="472771"/>
                    <a:pt x="2223215" y="477432"/>
                    <a:pt x="2219778" y="480869"/>
                  </a:cubicBezTo>
                  <a:cubicBezTo>
                    <a:pt x="2216341" y="484306"/>
                    <a:pt x="2211679" y="486237"/>
                    <a:pt x="2206819" y="486237"/>
                  </a:cubicBezTo>
                  <a:lnTo>
                    <a:pt x="18327" y="486237"/>
                  </a:lnTo>
                  <a:cubicBezTo>
                    <a:pt x="13466" y="486237"/>
                    <a:pt x="8805" y="484306"/>
                    <a:pt x="5368" y="480869"/>
                  </a:cubicBezTo>
                  <a:cubicBezTo>
                    <a:pt x="1931" y="477432"/>
                    <a:pt x="0" y="472771"/>
                    <a:pt x="0" y="467910"/>
                  </a:cubicBezTo>
                  <a:lnTo>
                    <a:pt x="0" y="18327"/>
                  </a:lnTo>
                  <a:cubicBezTo>
                    <a:pt x="0" y="13466"/>
                    <a:pt x="1931" y="8805"/>
                    <a:pt x="5368" y="5368"/>
                  </a:cubicBezTo>
                  <a:cubicBezTo>
                    <a:pt x="8805" y="1931"/>
                    <a:pt x="13466" y="0"/>
                    <a:pt x="183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225146" cy="457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418368" y="4095860"/>
            <a:ext cx="6640102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80"/>
              </a:lnSpc>
              <a:spcBef>
                <a:spcPct val="0"/>
              </a:spcBef>
            </a:pPr>
            <a:r>
              <a:rPr lang="en-US" b="true" sz="80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DAHTGcH6xWA</dc:identifier>
  <dcterms:modified xsi:type="dcterms:W3CDTF">2011-08-01T06:04:30Z</dcterms:modified>
  <cp:revision>1</cp:revision>
  <dc:title>Groundwater intelligence</dc:title>
</cp:coreProperties>
</file>